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74" r:id="rId2"/>
    <p:sldId id="375" r:id="rId3"/>
    <p:sldId id="257" r:id="rId4"/>
    <p:sldId id="376" r:id="rId5"/>
    <p:sldId id="384" r:id="rId6"/>
    <p:sldId id="377" r:id="rId7"/>
    <p:sldId id="387" r:id="rId8"/>
    <p:sldId id="388" r:id="rId9"/>
    <p:sldId id="378" r:id="rId10"/>
    <p:sldId id="386" r:id="rId11"/>
    <p:sldId id="379" r:id="rId12"/>
    <p:sldId id="385" r:id="rId13"/>
    <p:sldId id="380" r:id="rId14"/>
    <p:sldId id="3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91" autoAdjust="0"/>
    <p:restoredTop sz="94660"/>
  </p:normalViewPr>
  <p:slideViewPr>
    <p:cSldViewPr snapToGrid="0">
      <p:cViewPr varScale="1">
        <p:scale>
          <a:sx n="77" d="100"/>
          <a:sy n="77" d="100"/>
        </p:scale>
        <p:origin x="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5512D-5E8A-EDDB-E146-D27D0F647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C71DE-E7FC-35AC-0EE9-8CB0D532D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DB9EC-86E1-2058-E44B-FB3A25D1F1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A81353-675B-4E25-4916-6D1EB8FAA53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16022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E7C61-799E-CBDD-4D94-CC73FCEB7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7346F-BB8A-E59C-73C9-7D933D385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3256B-FA84-F398-C814-D54250E64F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5C728F-FC1A-A492-F9CB-B9C06AD7C62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90176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19066-7231-641D-0AD2-0C4353B82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5559E-92C8-110F-7D17-3E4671485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04FC2-725A-4211-CF3D-4A140B36AA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2E8025-DDA6-61F2-40A9-7CC8288D575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39604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6B5E8-FCDE-6052-61E9-9D46479C7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57F38-84D7-134A-D391-A3F38F96C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BB6C4-845C-3457-BCAF-39433A1AD4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E668D-BBB1-502D-CDAD-3432B7F0DB5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37623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44DFC-57FA-96CC-BB6D-36920A41F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AC540-AB62-60EB-77F9-0DEB2751A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752C8-5A70-76B8-1DCF-9A9BC486B5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2D05BA-5774-4AA1-A776-0A5CCCC63AE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1183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708953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nischal2805/Openclaw_hackathon"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hyperlink" Target="https://docs.google.com/presentation/d/1k901hLgaTWExU4GZGa0R5fsSwf8JMkg1/edit?usp=sharing&amp;ouid=103195337531181338754&amp;rtpof=true&amp;sd=true" TargetMode="External"/><Relationship Id="rId4" Type="http://schemas.openxmlformats.org/officeDocument/2006/relationships/hyperlink" Target="https://youtu.be/QpT2LhKakB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613559" y="1478602"/>
            <a:ext cx="6467672" cy="5262979"/>
          </a:xfrm>
          <a:prstGeom prst="rect">
            <a:avLst/>
          </a:prstGeom>
          <a:noFill/>
        </p:spPr>
        <p:txBody>
          <a:bodyPr wrap="square">
            <a:spAutoFit/>
          </a:bodyPr>
          <a:lstStyle/>
          <a:p>
            <a:pPr algn="ctr"/>
            <a:r>
              <a:rPr lang="en-US" sz="4000" b="1" dirty="0">
                <a:solidFill>
                  <a:srgbClr val="E81B25"/>
                </a:solidFill>
                <a:latin typeface="Berlin Sans FB Demi" panose="020E0802020502020306" pitchFamily="34" charset="0"/>
                <a:ea typeface="SamsungOne 800" panose="020B0903030303020204" pitchFamily="34" charset="0"/>
              </a:rPr>
              <a:t>RV College of Engineering</a:t>
            </a:r>
          </a:p>
          <a:p>
            <a:pPr algn="ctr"/>
            <a:r>
              <a:rPr lang="en-US" sz="2800" b="1" dirty="0" err="1">
                <a:solidFill>
                  <a:srgbClr val="E81B25"/>
                </a:solidFill>
                <a:latin typeface="Berlin Sans FB Demi" panose="020E0802020502020306" pitchFamily="34" charset="0"/>
                <a:ea typeface="SamsungOne 800" panose="020B0903030303020204" pitchFamily="34" charset="0"/>
              </a:rPr>
              <a:t>ContractClaw</a:t>
            </a:r>
            <a:r>
              <a:rPr lang="en-US" sz="2800" b="1" dirty="0">
                <a:solidFill>
                  <a:srgbClr val="E81B25"/>
                </a:solidFill>
                <a:latin typeface="Berlin Sans FB Demi" panose="020E0802020502020306" pitchFamily="34" charset="0"/>
                <a:ea typeface="SamsungOne 800" panose="020B0903030303020204" pitchFamily="34" charset="0"/>
              </a:rPr>
              <a:t>: Chat with your contracts, never miss a deadline.</a:t>
            </a:r>
            <a:endParaRPr lang="en-US" sz="4000" b="1" dirty="0">
              <a:solidFill>
                <a:srgbClr val="E81B25"/>
              </a:solidFill>
              <a:latin typeface="Berlin Sans FB Demi" panose="020E0802020502020306" pitchFamily="34" charset="0"/>
              <a:ea typeface="SamsungOne 800" panose="020B0903030303020204" pitchFamily="34" charset="0"/>
            </a:endParaRPr>
          </a:p>
          <a:p>
            <a:pPr algn="ctr"/>
            <a:endParaRPr lang="en-US" sz="4000" b="1" dirty="0">
              <a:solidFill>
                <a:srgbClr val="E81B25"/>
              </a:solidFill>
              <a:latin typeface="Berlin Sans FB Demi" panose="020E0802020502020306" pitchFamily="34" charset="0"/>
              <a:ea typeface="SamsungOne 800" panose="020B0903030303020204" pitchFamily="34" charset="0"/>
            </a:endParaRPr>
          </a:p>
          <a:p>
            <a:pPr algn="ctr"/>
            <a:r>
              <a:rPr lang="en-US" sz="4000" b="1" dirty="0">
                <a:solidFill>
                  <a:schemeClr val="tx2"/>
                </a:solidFill>
                <a:latin typeface="Berlin Sans FB Demi" panose="020E0802020502020306" pitchFamily="34" charset="0"/>
                <a:ea typeface="SamsungOne 800" panose="020B0903030303020204" pitchFamily="34" charset="0"/>
              </a:rPr>
              <a:t>Team: Secret Tunnel</a:t>
            </a:r>
          </a:p>
          <a:p>
            <a:pPr algn="ctr"/>
            <a:r>
              <a:rPr lang="en-US" sz="4000" b="1" dirty="0">
                <a:solidFill>
                  <a:schemeClr val="tx2"/>
                </a:solidFill>
                <a:latin typeface="Berlin Sans FB Demi" panose="020E0802020502020306" pitchFamily="34" charset="0"/>
                <a:ea typeface="SamsungOne 800" panose="020B0903030303020204" pitchFamily="34" charset="0"/>
              </a:rPr>
              <a:t>Nischal R E</a:t>
            </a:r>
          </a:p>
          <a:p>
            <a:pPr algn="ctr"/>
            <a:r>
              <a:rPr lang="en-US" sz="4000" b="1" dirty="0">
                <a:solidFill>
                  <a:schemeClr val="tx2"/>
                </a:solidFill>
                <a:latin typeface="Berlin Sans FB Demi" panose="020E0802020502020306" pitchFamily="34" charset="0"/>
                <a:ea typeface="SamsungOne 800" panose="020B0903030303020204" pitchFamily="34" charset="0"/>
              </a:rPr>
              <a:t>N S Samyak Varma</a:t>
            </a:r>
          </a:p>
          <a:p>
            <a:pPr algn="ctr"/>
            <a:r>
              <a:rPr lang="en-US" sz="4000" b="1" dirty="0">
                <a:solidFill>
                  <a:schemeClr val="tx2"/>
                </a:solidFill>
                <a:latin typeface="Berlin Sans FB Demi" panose="020E0802020502020306" pitchFamily="34" charset="0"/>
                <a:ea typeface="SamsungOne 800" panose="020B0903030303020204" pitchFamily="34" charset="0"/>
              </a:rPr>
              <a:t>Nithyasree Subramanian</a:t>
            </a: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365760" y="1395928"/>
            <a:ext cx="10972800"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a:t>Why this problem statement:</a:t>
            </a:r>
            <a:r>
              <a:rPr lang="en-US" dirty="0"/>
              <a:t> We selected this theme because managing legal documents and tracking obligations manually is highly inefficient and prone to human error. Generative AI is uniquely positioned to comprehend complex legal syntax, extract key temporal data, and automate proactive monitoring, effectively turning static documents into active productivity drivers.</a:t>
            </a:r>
            <a:endParaRPr lang="en-IN" dirty="0"/>
          </a:p>
          <a:p>
            <a:pPr marL="285750" indent="-285750">
              <a:buFont typeface="Arial" panose="020B0604020202020204" pitchFamily="34" charset="0"/>
              <a:buChar char="•"/>
            </a:pPr>
            <a:r>
              <a:rPr lang="en-IN" b="1" dirty="0"/>
              <a:t>What problem are we solving: </a:t>
            </a:r>
            <a:r>
              <a:rPr lang="en-IN" dirty="0"/>
              <a:t>We are solving the problem of missed critical contract deadlines (such as auto-renewals, termination windows, or compliance deliverables) and the loss of visibility into hidden obligations buried within dense legal PDFs.</a:t>
            </a:r>
          </a:p>
          <a:p>
            <a:pPr marL="285750" indent="-285750">
              <a:buFont typeface="Arial" panose="020B0604020202020204" pitchFamily="34" charset="0"/>
              <a:buChar char="•"/>
            </a:pPr>
            <a:r>
              <a:rPr lang="en-IN" b="1" dirty="0"/>
              <a:t>Who Faces it (Persona):</a:t>
            </a:r>
            <a:r>
              <a:rPr lang="en-IN" dirty="0"/>
              <a:t> Freelancers, small-to-medium business (SMB) owners, startup founders, procurement managers, and independent contractors who lack dedicated legal teams or the budget for expensive enterprise contract management software.</a:t>
            </a:r>
          </a:p>
          <a:p>
            <a:pPr marL="285750" indent="-285750">
              <a:buFont typeface="Arial" panose="020B0604020202020204" pitchFamily="34" charset="0"/>
              <a:buChar char="•"/>
            </a:pPr>
            <a:r>
              <a:rPr lang="en-IN" b="1" dirty="0"/>
              <a:t>Importance:</a:t>
            </a:r>
            <a:r>
              <a:rPr lang="en-IN" dirty="0"/>
              <a:t> Missing a contract deadline can lead to severe consequences: being locked into unwanted auto-renewals, breaching contract terms, incurring financial penalties, or losing critical negotiation leverage. Managing this manually across fragmented folders and calendar apps is stressful and scales poorly.</a:t>
            </a:r>
          </a:p>
          <a:p>
            <a:pPr marL="285750" indent="-285750">
              <a:buFont typeface="Arial" panose="020B0604020202020204" pitchFamily="34" charset="0"/>
              <a:buChar char="•"/>
            </a:pPr>
            <a:r>
              <a:rPr lang="en-IN" dirty="0"/>
              <a:t>Legal jargon is inherently opaque. Non-legal professionals need a way to simply chat with their contracts to understand their risks and duties instantly, without having to pay a lawyer a retainer for routine inquiries.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1130079" cy="3693319"/>
          </a:xfrm>
          <a:prstGeom prst="rect">
            <a:avLst/>
          </a:prstGeom>
          <a:noFill/>
        </p:spPr>
        <p:txBody>
          <a:bodyPr wrap="square" rtlCol="0">
            <a:spAutoFit/>
          </a:bodyPr>
          <a:lstStyle/>
          <a:p>
            <a:r>
              <a:rPr lang="en-IN" b="1" dirty="0"/>
              <a:t>Current Solutions:</a:t>
            </a:r>
            <a:r>
              <a:rPr lang="en-IN" dirty="0"/>
              <a:t> People currently rely on manual tracking (Excel spreadsheets, Google Calendar reminders) or heavy Enterprise Contract Lifecycle Management (CLM) software (like Ironclad or DocuSign CLM). Alternatively, they upload documents to standard chatbots like ChatGPT.</a:t>
            </a:r>
          </a:p>
          <a:p>
            <a:endParaRPr lang="en-IN" dirty="0"/>
          </a:p>
          <a:p>
            <a:pPr lvl="0"/>
            <a:r>
              <a:rPr lang="en-IN" b="1" dirty="0"/>
              <a:t>Gaps:</a:t>
            </a:r>
          </a:p>
          <a:p>
            <a:pPr lvl="0"/>
            <a:endParaRPr lang="en-IN" dirty="0"/>
          </a:p>
          <a:p>
            <a:pPr marL="285750" lvl="0" indent="-285750">
              <a:buFont typeface="Arial" panose="020B0604020202020204" pitchFamily="34" charset="0"/>
              <a:buChar char="•"/>
            </a:pPr>
            <a:r>
              <a:rPr lang="en-IN" b="1" dirty="0"/>
              <a:t>Manual Tracking:</a:t>
            </a:r>
            <a:r>
              <a:rPr lang="en-IN" dirty="0"/>
              <a:t> Extremely high friction. It requires the user to manually read, interpret, and perform data entry for every single deadline. It relies entirely on human memory and diligence.</a:t>
            </a:r>
          </a:p>
          <a:p>
            <a:pPr marL="285750" lvl="0" indent="-285750">
              <a:buFont typeface="Arial" panose="020B0604020202020204" pitchFamily="34" charset="0"/>
              <a:buChar char="•"/>
            </a:pPr>
            <a:r>
              <a:rPr lang="en-IN" b="1" dirty="0"/>
              <a:t>Enterprise CLMs:</a:t>
            </a:r>
            <a:r>
              <a:rPr lang="en-IN" dirty="0"/>
              <a:t> These platforms are overwhelmingly expensive, bloated, and complex for individuals or small businesses. They require extensive onboarding and don't integrate into casual, everyday communication channels.</a:t>
            </a:r>
          </a:p>
          <a:p>
            <a:pPr marL="285750" lvl="0" indent="-285750">
              <a:buFont typeface="Arial" panose="020B0604020202020204" pitchFamily="34" charset="0"/>
              <a:buChar char="•"/>
            </a:pPr>
            <a:r>
              <a:rPr lang="en-IN" b="1" dirty="0"/>
              <a:t>Standard AI Chatbots:</a:t>
            </a:r>
            <a:r>
              <a:rPr lang="en-IN" dirty="0"/>
              <a:t> While standard GenAI chatbots can summarize a contract once, they lack persistence and agency. They cannot remember your portfolio across sessions, nor can they proactively wake up in the background to alert you when a deadline is approaching.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Our Solution: </a:t>
            </a:r>
            <a:r>
              <a:rPr lang="en-US" sz="4267" b="1" dirty="0" err="1">
                <a:latin typeface="Calibri" pitchFamily="34" charset="0"/>
                <a:ea typeface="Calibri" pitchFamily="34" charset="-122"/>
                <a:cs typeface="Calibri" pitchFamily="34" charset="-120"/>
              </a:rPr>
              <a:t>ContractClaw</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631315" cy="2585323"/>
          </a:xfrm>
          <a:prstGeom prst="rect">
            <a:avLst/>
          </a:prstGeom>
          <a:noFill/>
        </p:spPr>
        <p:txBody>
          <a:bodyPr wrap="square" rtlCol="0">
            <a:spAutoFit/>
          </a:bodyPr>
          <a:lstStyle/>
          <a:p>
            <a:r>
              <a:rPr lang="en-IN" dirty="0"/>
              <a:t>We built </a:t>
            </a:r>
            <a:r>
              <a:rPr lang="en-IN" b="1" dirty="0" err="1"/>
              <a:t>ContractClaw</a:t>
            </a:r>
            <a:r>
              <a:rPr lang="en-IN" dirty="0"/>
              <a:t>, an always-on, autonomous AI contract intelligence agent that lives entirely within your </a:t>
            </a:r>
            <a:r>
              <a:rPr lang="en-IN" dirty="0" err="1"/>
              <a:t>favorite</a:t>
            </a:r>
            <a:r>
              <a:rPr lang="en-IN" dirty="0"/>
              <a:t> messaging app (Telegram), built on top of the </a:t>
            </a:r>
            <a:r>
              <a:rPr lang="en-IN" dirty="0" err="1"/>
              <a:t>OpenClaw</a:t>
            </a:r>
            <a:r>
              <a:rPr lang="en-IN" dirty="0"/>
              <a:t> framework.</a:t>
            </a:r>
          </a:p>
          <a:p>
            <a:endParaRPr lang="en-IN" dirty="0"/>
          </a:p>
          <a:p>
            <a:r>
              <a:rPr lang="en-IN" b="1" dirty="0"/>
              <a:t>Core Ideas:</a:t>
            </a:r>
            <a:r>
              <a:rPr lang="en-IN" dirty="0"/>
              <a:t> We transformed passive PDFs into active, self-monitoring assets. By leveraging </a:t>
            </a:r>
            <a:r>
              <a:rPr lang="en-IN" dirty="0" err="1"/>
              <a:t>OpenClaw's</a:t>
            </a:r>
            <a:r>
              <a:rPr lang="en-IN" dirty="0"/>
              <a:t> agentic framework and AWS Bedrock/Anthropic LLMs, </a:t>
            </a:r>
            <a:r>
              <a:rPr lang="en-IN" dirty="0" err="1"/>
              <a:t>ContractClaw</a:t>
            </a:r>
            <a:r>
              <a:rPr lang="en-IN" dirty="0"/>
              <a:t> creates a continuous, automated pipeline. When a user sends a document, the agent ingests it, extracts obligations, evaluates risk, saves the structured data to a persistent YAML registry, and utilizes a background "Heartbeat" daemon to continuously monitor the passage of time against those extracted dates.</a:t>
            </a:r>
          </a:p>
          <a:p>
            <a:endParaRPr lang="en-IN" dirty="0"/>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25141-E001-2D1B-3EBB-E448C8B890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CB1A0B-9E8B-FA38-732C-D171AA5C29B9}"/>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275CD9EA-55C5-7535-6501-F4E9975A2270}"/>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BF9D489D-A60C-FC6C-6AC9-25BF07868E1C}"/>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17E1FB3A-D687-E638-A084-7F31804D35B6}"/>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Our Solution: </a:t>
            </a:r>
            <a:r>
              <a:rPr lang="en-US" sz="4267" b="1" dirty="0" err="1">
                <a:latin typeface="Calibri" pitchFamily="34" charset="0"/>
                <a:ea typeface="Calibri" pitchFamily="34" charset="-122"/>
                <a:cs typeface="Calibri" pitchFamily="34" charset="-120"/>
              </a:rPr>
              <a:t>ContractClaw</a:t>
            </a:r>
            <a:endParaRPr lang="en-US" sz="4267" dirty="0"/>
          </a:p>
        </p:txBody>
      </p:sp>
      <p:sp>
        <p:nvSpPr>
          <p:cNvPr id="18" name="Text 1">
            <a:extLst>
              <a:ext uri="{FF2B5EF4-FFF2-40B4-BE49-F238E27FC236}">
                <a16:creationId xmlns:a16="http://schemas.microsoft.com/office/drawing/2014/main" id="{31FDA2D7-5F3C-4831-4575-028A33A79C2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684CEBDE-BD63-E081-D765-E5E3DCEC6656}"/>
              </a:ext>
            </a:extLst>
          </p:cNvPr>
          <p:cNvSpPr txBox="1"/>
          <p:nvPr/>
        </p:nvSpPr>
        <p:spPr>
          <a:xfrm>
            <a:off x="740496" y="1682945"/>
            <a:ext cx="10631315" cy="3693319"/>
          </a:xfrm>
          <a:prstGeom prst="rect">
            <a:avLst/>
          </a:prstGeom>
          <a:noFill/>
        </p:spPr>
        <p:txBody>
          <a:bodyPr wrap="square" rtlCol="0">
            <a:spAutoFit/>
          </a:bodyPr>
          <a:lstStyle/>
          <a:p>
            <a:pPr lvl="0"/>
            <a:r>
              <a:rPr lang="en-IN" b="1" dirty="0"/>
              <a:t>Key Features:</a:t>
            </a:r>
            <a:endParaRPr lang="en-IN" dirty="0"/>
          </a:p>
          <a:p>
            <a:pPr lvl="0"/>
            <a:endParaRPr lang="en-IN" b="1" dirty="0"/>
          </a:p>
          <a:p>
            <a:pPr marL="285750" lvl="0" indent="-285750">
              <a:buFont typeface="Arial" panose="020B0604020202020204" pitchFamily="34" charset="0"/>
              <a:buChar char="•"/>
            </a:pPr>
            <a:r>
              <a:rPr lang="en-IN" b="1" dirty="0"/>
              <a:t>Frictionless Ingestion:</a:t>
            </a:r>
            <a:r>
              <a:rPr lang="en-IN" dirty="0"/>
              <a:t> Simply forward or upload a PDF/DOCX to the Telegram bot. No dashboards or complex software required</a:t>
            </a:r>
          </a:p>
          <a:p>
            <a:pPr marL="285750" lvl="0" indent="-285750">
              <a:buFont typeface="Arial" panose="020B0604020202020204" pitchFamily="34" charset="0"/>
              <a:buChar char="•"/>
            </a:pPr>
            <a:r>
              <a:rPr lang="en-IN" b="1" dirty="0"/>
              <a:t>Smart Extraction &amp; Risk Flagging:</a:t>
            </a:r>
            <a:r>
              <a:rPr lang="en-IN" dirty="0"/>
              <a:t> Automatically extracts parties, obligations, deadlines, and risk flags. It utilizes a confidence threshold (if extraction confidence is &lt; 80%, it pauses and asks the user for manual confirmation before saving).</a:t>
            </a:r>
          </a:p>
          <a:p>
            <a:pPr marL="285750" lvl="0" indent="-285750">
              <a:buFont typeface="Arial" panose="020B0604020202020204" pitchFamily="34" charset="0"/>
              <a:buChar char="•"/>
            </a:pPr>
            <a:r>
              <a:rPr lang="en-IN" b="1" dirty="0"/>
              <a:t>Proactive Heartbeat Alerts:</a:t>
            </a:r>
            <a:r>
              <a:rPr lang="en-IN" dirty="0"/>
              <a:t> A daily background </a:t>
            </a:r>
            <a:r>
              <a:rPr lang="en-IN" dirty="0" err="1"/>
              <a:t>cron</a:t>
            </a:r>
            <a:r>
              <a:rPr lang="en-IN" dirty="0"/>
              <a:t> job (daemon) that automatically scans the persistent registry and pushes tiered, proactive warnings (e.g., 30 day, 7 day, 1 day alerts) to the user's phone before a deadline hits.</a:t>
            </a:r>
          </a:p>
          <a:p>
            <a:pPr marL="285750" lvl="0" indent="-285750">
              <a:buFont typeface="Arial" panose="020B0604020202020204" pitchFamily="34" charset="0"/>
              <a:buChar char="•"/>
            </a:pPr>
            <a:r>
              <a:rPr lang="en-IN" b="1" dirty="0"/>
              <a:t>Natural Language Portfolio Querying:</a:t>
            </a:r>
            <a:r>
              <a:rPr lang="en-IN" dirty="0"/>
              <a:t> Users can chat with their portfolio and the agent responds instantly based on its persistent memory.</a:t>
            </a:r>
          </a:p>
          <a:p>
            <a:endParaRPr lang="en-IN" dirty="0"/>
          </a:p>
        </p:txBody>
      </p:sp>
    </p:spTree>
    <p:extLst>
      <p:ext uri="{BB962C8B-B14F-4D97-AF65-F5344CB8AC3E}">
        <p14:creationId xmlns:p14="http://schemas.microsoft.com/office/powerpoint/2010/main" val="3242479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pic>
        <p:nvPicPr>
          <p:cNvPr id="7" name="Picture 6">
            <a:extLst>
              <a:ext uri="{FF2B5EF4-FFF2-40B4-BE49-F238E27FC236}">
                <a16:creationId xmlns:a16="http://schemas.microsoft.com/office/drawing/2014/main" id="{420D5A47-F8E3-0F50-0653-B89CAA9AD1ED}"/>
              </a:ext>
            </a:extLst>
          </p:cNvPr>
          <p:cNvPicPr>
            <a:picLocks noChangeAspect="1"/>
          </p:cNvPicPr>
          <p:nvPr/>
        </p:nvPicPr>
        <p:blipFill>
          <a:blip r:embed="rId3"/>
          <a:srcRect l="-11680" t="-29358" r="-27270" b="-7181"/>
          <a:stretch>
            <a:fillRect/>
          </a:stretch>
        </p:blipFill>
        <p:spPr>
          <a:xfrm>
            <a:off x="340822" y="365760"/>
            <a:ext cx="11745883" cy="6492240"/>
          </a:xfrm>
          <a:prstGeom prst="rect">
            <a:avLst/>
          </a:prstGeom>
        </p:spPr>
      </p:pic>
    </p:spTree>
    <p:extLst>
      <p:ext uri="{BB962C8B-B14F-4D97-AF65-F5344CB8AC3E}">
        <p14:creationId xmlns:p14="http://schemas.microsoft.com/office/powerpoint/2010/main" val="452960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DBB85-423B-AC80-77EA-6BF68F15C2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9B1977-AA5D-72DD-D8A8-9675F1CBDFEA}"/>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5AF9E2A1-CEA8-A84D-E445-D13B55CDEBFD}"/>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0761A019-DABF-A1BA-58AF-E95BA09CDAC6}"/>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E1BFC7E8-CFE1-2509-7199-01F504A73E89}"/>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A29894DE-D9FA-2E9C-7A31-534845B2FEFD}"/>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pic>
        <p:nvPicPr>
          <p:cNvPr id="8" name="Picture 7">
            <a:extLst>
              <a:ext uri="{FF2B5EF4-FFF2-40B4-BE49-F238E27FC236}">
                <a16:creationId xmlns:a16="http://schemas.microsoft.com/office/drawing/2014/main" id="{EE5AAD9F-38C3-8977-F4DC-A2ABC4723D5F}"/>
              </a:ext>
            </a:extLst>
          </p:cNvPr>
          <p:cNvPicPr>
            <a:picLocks noChangeAspect="1"/>
          </p:cNvPicPr>
          <p:nvPr/>
        </p:nvPicPr>
        <p:blipFill>
          <a:blip r:embed="rId3"/>
          <a:stretch>
            <a:fillRect/>
          </a:stretch>
        </p:blipFill>
        <p:spPr>
          <a:xfrm>
            <a:off x="1697005" y="1432504"/>
            <a:ext cx="9275795" cy="5206040"/>
          </a:xfrm>
          <a:prstGeom prst="rect">
            <a:avLst/>
          </a:prstGeom>
        </p:spPr>
      </p:pic>
    </p:spTree>
    <p:extLst>
      <p:ext uri="{BB962C8B-B14F-4D97-AF65-F5344CB8AC3E}">
        <p14:creationId xmlns:p14="http://schemas.microsoft.com/office/powerpoint/2010/main" val="58462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8E2C1-8E08-464C-CCAB-9F049BCF52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12AA63-2172-237D-E17C-773EEFEE3E3C}"/>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F01B67EE-F320-EBC5-5757-E9147B773396}"/>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5A1F367C-56E6-8C86-7FEA-1802D26F9524}"/>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2485358F-7806-43A4-3FED-D17A235D57A2}"/>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0202C8DF-CE9E-AD4E-DE0D-3773FE44D9F7}"/>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10" name="TextBox 9">
            <a:extLst>
              <a:ext uri="{FF2B5EF4-FFF2-40B4-BE49-F238E27FC236}">
                <a16:creationId xmlns:a16="http://schemas.microsoft.com/office/drawing/2014/main" id="{AA78A25F-AA31-AC92-5F0F-9C8B6EBEBB5F}"/>
              </a:ext>
            </a:extLst>
          </p:cNvPr>
          <p:cNvSpPr txBox="1"/>
          <p:nvPr/>
        </p:nvSpPr>
        <p:spPr>
          <a:xfrm>
            <a:off x="434339" y="1524000"/>
            <a:ext cx="11303231" cy="1477328"/>
          </a:xfrm>
          <a:prstGeom prst="rect">
            <a:avLst/>
          </a:prstGeom>
          <a:noFill/>
        </p:spPr>
        <p:txBody>
          <a:bodyPr wrap="square">
            <a:spAutoFit/>
          </a:bodyPr>
          <a:lstStyle/>
          <a:p>
            <a:r>
              <a:rPr lang="en-IN" b="1" dirty="0"/>
              <a:t>How User Interacts:</a:t>
            </a:r>
            <a:endParaRPr lang="en-IN" dirty="0"/>
          </a:p>
          <a:p>
            <a:pPr lvl="0"/>
            <a:r>
              <a:rPr lang="en-IN" b="1" dirty="0"/>
              <a:t>Step 1: The Upload (Ingestion)</a:t>
            </a:r>
            <a:endParaRPr lang="en-IN" dirty="0"/>
          </a:p>
          <a:p>
            <a:pPr lvl="0"/>
            <a:r>
              <a:rPr lang="en-IN" b="1" dirty="0"/>
              <a:t>Step 2: The Extraction &amp; Confirmation</a:t>
            </a:r>
          </a:p>
          <a:p>
            <a:pPr lvl="0"/>
            <a:r>
              <a:rPr lang="en-IN" b="1" dirty="0"/>
              <a:t>Step 3: The Query (RAG in Action)</a:t>
            </a:r>
            <a:endParaRPr lang="en-IN" dirty="0"/>
          </a:p>
          <a:p>
            <a:pPr lvl="0"/>
            <a:r>
              <a:rPr lang="en-IN" b="1" dirty="0"/>
              <a:t>Step 4: The Proactive Alert (The Heartbeat)</a:t>
            </a:r>
            <a:endParaRPr lang="en-IN" dirty="0"/>
          </a:p>
        </p:txBody>
      </p:sp>
    </p:spTree>
    <p:extLst>
      <p:ext uri="{BB962C8B-B14F-4D97-AF65-F5344CB8AC3E}">
        <p14:creationId xmlns:p14="http://schemas.microsoft.com/office/powerpoint/2010/main" val="1016726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972800" cy="4247317"/>
          </a:xfrm>
          <a:prstGeom prst="rect">
            <a:avLst/>
          </a:prstGeom>
          <a:noFill/>
        </p:spPr>
        <p:txBody>
          <a:bodyPr wrap="square" rtlCol="0">
            <a:spAutoFit/>
          </a:bodyPr>
          <a:lstStyle/>
          <a:p>
            <a:r>
              <a:rPr lang="en-IN" b="1" dirty="0"/>
              <a:t>Tech Stack &amp; AI Usage:</a:t>
            </a:r>
          </a:p>
          <a:p>
            <a:endParaRPr lang="en-IN" dirty="0"/>
          </a:p>
          <a:p>
            <a:pPr lvl="0"/>
            <a:r>
              <a:rPr lang="en-IN" b="1" dirty="0"/>
              <a:t>Framework:</a:t>
            </a:r>
            <a:r>
              <a:rPr lang="en-IN" dirty="0"/>
              <a:t> </a:t>
            </a:r>
            <a:r>
              <a:rPr lang="en-IN" dirty="0" err="1"/>
              <a:t>OpenClaw</a:t>
            </a:r>
            <a:r>
              <a:rPr lang="en-IN" dirty="0"/>
              <a:t> (an agentic framework for Node.js/TypeScript) handles the core execution loop, tool sandboxing, and background daemon processes.</a:t>
            </a:r>
          </a:p>
          <a:p>
            <a:pPr lvl="0"/>
            <a:endParaRPr lang="en-IN" dirty="0"/>
          </a:p>
          <a:p>
            <a:pPr lvl="0"/>
            <a:r>
              <a:rPr lang="en-IN" b="1" dirty="0"/>
              <a:t>AI Models:</a:t>
            </a:r>
            <a:r>
              <a:rPr lang="en-IN" dirty="0"/>
              <a:t> AWS Bedrock (Minimax M2.5) or Anthropic (Claude Sonnet). We use these LLMs for two distinct purposes:</a:t>
            </a:r>
          </a:p>
          <a:p>
            <a:pPr lvl="1"/>
            <a:r>
              <a:rPr lang="en-IN" dirty="0"/>
              <a:t>Extraction: Parsing dense PDF/DOCX files into structured JSON/YAML (parties, dates, obligations).</a:t>
            </a:r>
          </a:p>
          <a:p>
            <a:pPr lvl="1"/>
            <a:r>
              <a:rPr lang="en-IN" dirty="0"/>
              <a:t>RAG/Querying: Answering natural language questions based on the saved contract registry.</a:t>
            </a:r>
          </a:p>
          <a:p>
            <a:pPr lvl="1"/>
            <a:endParaRPr lang="en-IN" dirty="0"/>
          </a:p>
          <a:p>
            <a:pPr lvl="0"/>
            <a:r>
              <a:rPr lang="en-IN" b="1" dirty="0"/>
              <a:t>APIs &amp; Channels:</a:t>
            </a:r>
            <a:r>
              <a:rPr lang="en-IN" dirty="0"/>
              <a:t> Telegram Bot API acts as the sole user interface, providing a frictionless, mobile-first conversational experience.</a:t>
            </a:r>
          </a:p>
          <a:p>
            <a:pPr lvl="0"/>
            <a:endParaRPr lang="en-IN" dirty="0"/>
          </a:p>
          <a:p>
            <a:pPr lvl="0"/>
            <a:r>
              <a:rPr lang="en-IN" b="1" dirty="0"/>
              <a:t>Persistence:</a:t>
            </a:r>
            <a:r>
              <a:rPr lang="en-IN" dirty="0"/>
              <a:t> Local/Cloud YAML Registry. We bypass heavy databases in favour of a fast, portable, human-readable file system registry that the AI can easily read and write to.</a:t>
            </a:r>
          </a:p>
        </p:txBody>
      </p:sp>
    </p:spTree>
    <p:extLst>
      <p:ext uri="{BB962C8B-B14F-4D97-AF65-F5344CB8AC3E}">
        <p14:creationId xmlns:p14="http://schemas.microsoft.com/office/powerpoint/2010/main" val="56678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E150B-13E5-7A7D-905D-D4F7F9255B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DF39963-06BC-4D25-9CE9-D4F3EE9E17DD}"/>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E9F4A50D-D7E5-E516-3219-ECAA0A057375}"/>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30397E67-147E-BA30-8DE8-56C6325226E4}"/>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D079D86A-AE86-E448-A7FE-7D8F7C48607B}"/>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3F4078CF-D0DB-8257-EEEF-6C144C2CDBAB}"/>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pic>
        <p:nvPicPr>
          <p:cNvPr id="1026" name="Picture 2">
            <a:extLst>
              <a:ext uri="{FF2B5EF4-FFF2-40B4-BE49-F238E27FC236}">
                <a16:creationId xmlns:a16="http://schemas.microsoft.com/office/drawing/2014/main" id="{EEAEBF29-14DE-245E-1B40-57301FEB23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610"/>
          <a:stretch>
            <a:fillRect/>
          </a:stretch>
        </p:blipFill>
        <p:spPr bwMode="auto">
          <a:xfrm>
            <a:off x="6600305" y="219456"/>
            <a:ext cx="3981797" cy="6479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6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1271395" cy="3139321"/>
          </a:xfrm>
          <a:prstGeom prst="rect">
            <a:avLst/>
          </a:prstGeom>
          <a:noFill/>
        </p:spPr>
        <p:txBody>
          <a:bodyPr wrap="square" rtlCol="0">
            <a:spAutoFit/>
          </a:bodyPr>
          <a:lstStyle/>
          <a:p>
            <a:r>
              <a:rPr lang="en-IN" b="1" dirty="0"/>
              <a:t>Real-Life Scenarios:</a:t>
            </a:r>
            <a:endParaRPr lang="en-IN" dirty="0"/>
          </a:p>
          <a:p>
            <a:pPr lvl="0"/>
            <a:r>
              <a:rPr lang="en-IN" b="1" dirty="0"/>
              <a:t>1. The Forgetful Freelancer:</a:t>
            </a:r>
            <a:r>
              <a:rPr lang="en-IN" dirty="0"/>
              <a:t> A designer signs a 6-month retainer with an agency. </a:t>
            </a:r>
            <a:r>
              <a:rPr lang="en-IN" dirty="0" err="1"/>
              <a:t>ContractClaw</a:t>
            </a:r>
            <a:r>
              <a:rPr lang="en-IN" dirty="0"/>
              <a:t> alerts them 30 days before the contract expires, giving them time to renegotiate instead of letting the contract lapse.</a:t>
            </a:r>
          </a:p>
          <a:p>
            <a:pPr lvl="0"/>
            <a:r>
              <a:rPr lang="en-IN" b="1" dirty="0"/>
              <a:t>2. The Software Startup (SaaS):</a:t>
            </a:r>
            <a:r>
              <a:rPr lang="en-IN" dirty="0"/>
              <a:t> A founder signs an enterprise software agreement with a strict 60-day cancellation notice window. </a:t>
            </a:r>
            <a:r>
              <a:rPr lang="en-IN" dirty="0" err="1"/>
              <a:t>ContractClaw</a:t>
            </a:r>
            <a:r>
              <a:rPr lang="en-IN" dirty="0"/>
              <a:t> pushes a Telegram alert on day 50, preventing an unwanted auto-renewal.</a:t>
            </a:r>
          </a:p>
          <a:p>
            <a:pPr lvl="0"/>
            <a:r>
              <a:rPr lang="en-IN" b="1" dirty="0"/>
              <a:t>3. The Independent Contractor:</a:t>
            </a:r>
            <a:r>
              <a:rPr lang="en-IN" dirty="0"/>
              <a:t> A contractor receives a 50-page NDA and Master Service Agreement (MSA). Instead of reading it all, they forward it to </a:t>
            </a:r>
            <a:r>
              <a:rPr lang="en-IN" dirty="0" err="1"/>
              <a:t>ContractClaw</a:t>
            </a:r>
            <a:r>
              <a:rPr lang="en-IN" dirty="0"/>
              <a:t> and ask, "Are there any non-compete clauses that prevent me from working with other tech companies?"</a:t>
            </a:r>
          </a:p>
          <a:p>
            <a:pPr lvl="0"/>
            <a:r>
              <a:rPr lang="en-IN" b="1" dirty="0"/>
              <a:t>4. Procurement Manager:</a:t>
            </a:r>
            <a:r>
              <a:rPr lang="en-IN" dirty="0"/>
              <a:t> Needs to know deliverables for the current quarter. They text the bot: "List all my upcoming vendor payment deadlines for November."</a:t>
            </a:r>
          </a:p>
          <a:p>
            <a:endParaRPr lang="en-IN" dirty="0"/>
          </a:p>
        </p:txBody>
      </p:sp>
    </p:spTree>
    <p:extLst>
      <p:ext uri="{BB962C8B-B14F-4D97-AF65-F5344CB8AC3E}">
        <p14:creationId xmlns:p14="http://schemas.microsoft.com/office/powerpoint/2010/main" val="227735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5166-3962-B701-BC3E-5E09CC0F0E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249A453-8416-D4A3-544C-D2398E3CF28C}"/>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2EC8C873-7FCA-DCF4-1E41-69DD0F53CFCD}"/>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3DC2E4FD-2572-0DDE-4B01-1283D956F62D}"/>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0C377863-62CC-7D1C-A957-B63E4F7A023C}"/>
              </a:ext>
            </a:extLst>
          </p:cNvPr>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56917A09-AF19-DB6D-5FC7-D69E24510D68}"/>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2AF578E8-687B-F00C-E1B4-6A8F8A7F624A}"/>
              </a:ext>
            </a:extLst>
          </p:cNvPr>
          <p:cNvSpPr txBox="1"/>
          <p:nvPr/>
        </p:nvSpPr>
        <p:spPr>
          <a:xfrm>
            <a:off x="740496" y="1682945"/>
            <a:ext cx="11271395" cy="2031325"/>
          </a:xfrm>
          <a:prstGeom prst="rect">
            <a:avLst/>
          </a:prstGeom>
          <a:noFill/>
        </p:spPr>
        <p:txBody>
          <a:bodyPr wrap="square" rtlCol="0">
            <a:spAutoFit/>
          </a:bodyPr>
          <a:lstStyle/>
          <a:p>
            <a:r>
              <a:rPr lang="en-IN" b="1" dirty="0"/>
              <a:t>Scale Potential:</a:t>
            </a:r>
            <a:endParaRPr lang="en-IN" dirty="0"/>
          </a:p>
          <a:p>
            <a:pPr lvl="0"/>
            <a:endParaRPr lang="en-IN" b="1" dirty="0"/>
          </a:p>
          <a:p>
            <a:pPr lvl="0"/>
            <a:r>
              <a:rPr lang="en-IN" b="1" dirty="0"/>
              <a:t>Horizontal Scaling:</a:t>
            </a:r>
            <a:r>
              <a:rPr lang="en-IN" dirty="0"/>
              <a:t> Easily expandable to other messaging platforms (WhatsApp, Slack, Discord) using </a:t>
            </a:r>
            <a:r>
              <a:rPr lang="en-IN" dirty="0" err="1"/>
              <a:t>OpenClaw's</a:t>
            </a:r>
            <a:r>
              <a:rPr lang="en-IN" dirty="0"/>
              <a:t> channel integrations.</a:t>
            </a:r>
          </a:p>
          <a:p>
            <a:endParaRPr lang="en-IN" b="1" dirty="0"/>
          </a:p>
          <a:p>
            <a:r>
              <a:rPr lang="en-IN" b="1" dirty="0"/>
              <a:t>Enterprise Integration:</a:t>
            </a:r>
            <a:r>
              <a:rPr lang="en-IN" dirty="0"/>
              <a:t> Can be scaled up to integrate with Google Drive or SharePoint to automatically ingest any contract dropped into a specific folder, turning it into a lightweight CLM for medium-sized businesses.</a:t>
            </a:r>
          </a:p>
        </p:txBody>
      </p:sp>
    </p:spTree>
    <p:extLst>
      <p:ext uri="{BB962C8B-B14F-4D97-AF65-F5344CB8AC3E}">
        <p14:creationId xmlns:p14="http://schemas.microsoft.com/office/powerpoint/2010/main" val="1337655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0972800" cy="3970318"/>
          </a:xfrm>
          <a:prstGeom prst="rect">
            <a:avLst/>
          </a:prstGeom>
          <a:noFill/>
        </p:spPr>
        <p:txBody>
          <a:bodyPr wrap="square" rtlCol="0">
            <a:spAutoFit/>
          </a:bodyPr>
          <a:lstStyle/>
          <a:p>
            <a:pPr marL="285750" indent="-285750">
              <a:buFont typeface="Arial" panose="020B0604020202020204" pitchFamily="34" charset="0"/>
              <a:buChar char="•"/>
            </a:pPr>
            <a:r>
              <a:rPr lang="en-IN" dirty="0"/>
              <a:t>Most contract AI tools focus purely on </a:t>
            </a:r>
            <a:r>
              <a:rPr lang="en-IN" i="1" dirty="0"/>
              <a:t>drafting</a:t>
            </a:r>
            <a:r>
              <a:rPr lang="en-IN" dirty="0"/>
              <a:t> or </a:t>
            </a:r>
            <a:r>
              <a:rPr lang="en-IN" i="1" dirty="0"/>
              <a:t>initial review</a:t>
            </a:r>
            <a:r>
              <a:rPr lang="en-IN" dirty="0"/>
              <a:t> (acting as a one-time spellchecker for lawyers). </a:t>
            </a:r>
            <a:r>
              <a:rPr lang="en-IN" dirty="0" err="1"/>
              <a:t>ContractClaw</a:t>
            </a:r>
            <a:r>
              <a:rPr lang="en-IN" dirty="0"/>
              <a:t> focuses on post-signature lifecycle management. It doesn't just read the contract once and forget it; it acts as a persistent, proactive agent that lives in an app the user already opens 20 times a day (Telegram).</a:t>
            </a:r>
          </a:p>
          <a:p>
            <a:endParaRPr lang="en-IN" b="1" dirty="0"/>
          </a:p>
          <a:p>
            <a:pPr marL="285750" indent="-285750">
              <a:buFont typeface="Arial" panose="020B0604020202020204" pitchFamily="34" charset="0"/>
              <a:buChar char="•"/>
            </a:pPr>
            <a:r>
              <a:rPr lang="en-IN" b="1" dirty="0"/>
              <a:t>Strong MOATs:</a:t>
            </a:r>
            <a:endParaRPr lang="en-IN" dirty="0"/>
          </a:p>
          <a:p>
            <a:pPr marL="742950" lvl="1" indent="-285750">
              <a:buFont typeface="Arial" panose="020B0604020202020204" pitchFamily="34" charset="0"/>
              <a:buChar char="•"/>
            </a:pPr>
            <a:r>
              <a:rPr lang="en-IN" b="1" dirty="0"/>
              <a:t>Proactive Agency (The Heartbeat):</a:t>
            </a:r>
            <a:r>
              <a:rPr lang="en-IN" dirty="0"/>
              <a:t> Standard chatbots (like ChatGPT) only speak when spoken to. Our strong moat is the </a:t>
            </a:r>
            <a:r>
              <a:rPr lang="en-IN" b="1" dirty="0"/>
              <a:t>autonomous background daemon</a:t>
            </a:r>
            <a:r>
              <a:rPr lang="en-IN" dirty="0"/>
              <a:t>. </a:t>
            </a:r>
            <a:r>
              <a:rPr lang="en-IN" dirty="0" err="1"/>
              <a:t>ContractClaw</a:t>
            </a:r>
            <a:r>
              <a:rPr lang="en-IN" dirty="0"/>
              <a:t> initiates the conversation, reaching out to the user weeks later to warn them of a deadline, entirely unprompted.</a:t>
            </a:r>
          </a:p>
          <a:p>
            <a:pPr marL="742950" lvl="1" indent="-285750">
              <a:buFont typeface="Arial" panose="020B0604020202020204" pitchFamily="34" charset="0"/>
              <a:buChar char="•"/>
            </a:pPr>
            <a:r>
              <a:rPr lang="en-IN" b="1" dirty="0"/>
              <a:t>Zero-Friction Interface:</a:t>
            </a:r>
            <a:r>
              <a:rPr lang="en-IN" dirty="0"/>
              <a:t> We completely eliminated the dashboard. Users hate learning new enterprise software. By living entirely inside Telegram, the onboarding time is zero seconds, and accessibility is instantaneous, even on mobile.</a:t>
            </a:r>
          </a:p>
          <a:p>
            <a:r>
              <a:rPr lang="en-IN" dirty="0"/>
              <a:t> </a:t>
            </a:r>
          </a:p>
          <a:p>
            <a:r>
              <a:rPr lang="en-IN" dirty="0"/>
              <a:t> </a:t>
            </a:r>
          </a:p>
          <a:p>
            <a:endParaRPr lang="en-IN" dirty="0"/>
          </a:p>
        </p:txBody>
      </p:sp>
    </p:spTree>
    <p:extLst>
      <p:ext uri="{BB962C8B-B14F-4D97-AF65-F5344CB8AC3E}">
        <p14:creationId xmlns:p14="http://schemas.microsoft.com/office/powerpoint/2010/main" val="1746425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525453" y="1633728"/>
            <a:ext cx="5570547" cy="3416320"/>
          </a:xfrm>
          <a:prstGeom prst="rect">
            <a:avLst/>
          </a:prstGeom>
          <a:noFill/>
        </p:spPr>
        <p:txBody>
          <a:bodyPr wrap="square" rtlCol="0">
            <a:spAutoFit/>
          </a:bodyPr>
          <a:lstStyle/>
          <a:p>
            <a:r>
              <a:rPr lang="en-IN" dirty="0"/>
              <a:t>GitHub Repo: </a:t>
            </a:r>
            <a:r>
              <a:rPr lang="en-IN" dirty="0">
                <a:hlinkClick r:id="rId3"/>
              </a:rPr>
              <a:t>https://github.com/nischal2805/Openclaw_hackathon</a:t>
            </a:r>
            <a:endParaRPr lang="en-IN" dirty="0"/>
          </a:p>
          <a:p>
            <a:br>
              <a:rPr lang="en-IN" dirty="0"/>
            </a:br>
            <a:r>
              <a:rPr lang="en-IN" dirty="0"/>
              <a:t>Demo Link:</a:t>
            </a:r>
          </a:p>
          <a:p>
            <a:r>
              <a:rPr lang="en-IN" dirty="0">
                <a:hlinkClick r:id="rId4"/>
              </a:rPr>
              <a:t>https://youtu.be/QpT2LhKakB4</a:t>
            </a:r>
            <a:endParaRPr lang="en-IN" dirty="0"/>
          </a:p>
          <a:p>
            <a:br>
              <a:rPr lang="en-IN" dirty="0"/>
            </a:br>
            <a:r>
              <a:rPr lang="en-IN" dirty="0"/>
              <a:t>Document submitted:</a:t>
            </a:r>
          </a:p>
          <a:p>
            <a:r>
              <a:rPr lang="en-IN" dirty="0">
                <a:hlinkClick r:id="rId5"/>
              </a:rPr>
              <a:t>https://docs.google.com/presentation/d/1k901hLgaTWExU4GZGa0R5fsSwf8JMkg1/edit?usp=sharing&amp;ouid=103195337531181338754&amp;rtpof=true&amp;sd=true</a:t>
            </a:r>
            <a:endParaRPr lang="en-IN" dirty="0"/>
          </a:p>
          <a:p>
            <a:endParaRPr lang="en-IN" dirty="0"/>
          </a:p>
          <a:p>
            <a:endParaRPr lang="en-IN" dirty="0"/>
          </a:p>
        </p:txBody>
      </p:sp>
    </p:spTree>
    <p:extLst>
      <p:ext uri="{BB962C8B-B14F-4D97-AF65-F5344CB8AC3E}">
        <p14:creationId xmlns:p14="http://schemas.microsoft.com/office/powerpoint/2010/main" val="1098279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1358</Words>
  <Application>Microsoft Office PowerPoint</Application>
  <PresentationFormat>Widescreen</PresentationFormat>
  <Paragraphs>108</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Berlin Sans FB Demi</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Nithyasree Subramanian</cp:lastModifiedBy>
  <cp:revision>7</cp:revision>
  <dcterms:created xsi:type="dcterms:W3CDTF">2026-04-27T09:11:02Z</dcterms:created>
  <dcterms:modified xsi:type="dcterms:W3CDTF">2026-05-08T18:39:24Z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